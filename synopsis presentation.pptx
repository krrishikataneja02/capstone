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7B565A9-993C-431B-979D-3189A375E68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B5874E5-4821-49A5-9016-B01F9300FE31}" type="slidenum">
              <a:t>‹#›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5AD56C1-6231-434E-9690-192CC4E52D3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64DE8FC-D8B8-4FFA-9DD5-AE93A63C5E2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A1E2747-A883-431D-8ACE-27D989A273D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F4EBC55-1021-4032-A5A6-E8A18F4FE222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05B9DE8-FB25-4239-868F-BA222427067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32A683B-2D27-4B67-9649-935DF239060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BC4BA01-4BA4-4A14-8201-BD5E9B769F36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A0BD3AC-7501-413D-A364-867FEC160CE2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88A5D9A-92BC-4033-B940-6CF6B2558872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CC0D9F7-3432-4AA2-BD54-23E81AE7880A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B3F69D7-BAD5-48F2-B88A-6E359FF56C8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5C17B7F-D62C-487C-9030-D4F895864A5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A0BAA47-7A70-4114-9617-A6901E4BDD5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199E681-D48B-4D55-A4E2-302C2F78109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E7B6185-B519-4750-A303-D136C565D191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7EDE0DC-C57E-4719-B929-96664D6998D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0186138-B287-4DEB-B0EA-F2D231A3C44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59A46CD-7A0C-44B2-8D3F-AFE77FE4BE3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7B4C3CB-68C9-453B-BF5A-247D9A5D800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8D3E37F-50C2-4FCF-97CC-B4A80AA2C7C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F4C4C6-CF81-495B-A44C-84AD3DEA11BE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A47C1FC-9785-4D6C-B157-DC41EE939D85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0B605CA-C627-4DBD-B7E1-731A9B46508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D35C247-646D-4047-8FD1-EF6FA77F016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CE63898B-DCE8-4E01-91EA-2F141617F67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118A684E-E677-4782-8D57-C9C1981047F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3AA36C47-9563-4730-AB8D-D69E3EAB9E4E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DCDC844-FE07-4EEA-9600-6BE3EBFBDD2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4447A23-0EEC-4E1F-8AE5-35538F9BA3A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7887DE6C-397F-4210-BC42-B467FBE1090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2F4BE1A1-1E5C-41BB-B91F-D6EB865CEDD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EA3E38B-7C12-40CB-8A04-852A0A43EA9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6264EB6-DEE2-4A45-94DB-D0CC15510BAF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743A51E-A27F-4A52-A34F-47AFD0499FCA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N" sz="1200" b="0" strike="noStrike" spc="-1"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8510C1-2448-4775-A45F-EE04738A8FFE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IN" sz="1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9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pic>
        <p:nvPicPr>
          <p:cNvPr id="5" name="Picture 4"/>
          <p:cNvPicPr/>
          <p:nvPr/>
        </p:nvPicPr>
        <p:blipFill>
          <a:blip r:embed="rId15"/>
          <a:stretch/>
        </p:blipFill>
        <p:spPr>
          <a:xfrm>
            <a:off x="3838680" y="2160000"/>
            <a:ext cx="4405320" cy="15375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N" sz="1200" b="0" strike="noStrike" spc="-1"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3622BF6-C1EF-49E2-A6E9-8DC057FE5E34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IN" sz="1200" b="0" strike="noStrike" spc="-1"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0" y="2275920"/>
            <a:ext cx="12191760" cy="564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000"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17375E"/>
                </a:solidFill>
                <a:latin typeface="Calibri"/>
              </a:rPr>
              <a:t>TITLE</a:t>
            </a:r>
            <a:endParaRPr lang="en-US" sz="3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pic>
        <p:nvPicPr>
          <p:cNvPr id="47" name="Picture 46"/>
          <p:cNvPicPr/>
          <p:nvPr/>
        </p:nvPicPr>
        <p:blipFill>
          <a:blip r:embed="rId15"/>
          <a:stretch/>
        </p:blipFill>
        <p:spPr>
          <a:xfrm>
            <a:off x="10260000" y="6011280"/>
            <a:ext cx="1681920" cy="5871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N" sz="1200" b="0" strike="noStrike" spc="-1"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6" name="PlaceHolder 3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4412AF1-E513-4153-8A8C-B9990C0B2C5B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87" name="Picture 86"/>
          <p:cNvPicPr/>
          <p:nvPr/>
        </p:nvPicPr>
        <p:blipFill>
          <a:blip r:embed="rId15"/>
          <a:stretch/>
        </p:blipFill>
        <p:spPr>
          <a:xfrm>
            <a:off x="4653720" y="3888000"/>
            <a:ext cx="2784240" cy="972000"/>
          </a:xfrm>
          <a:prstGeom prst="rect">
            <a:avLst/>
          </a:prstGeom>
          <a:ln w="0">
            <a:noFill/>
          </a:ln>
        </p:spPr>
      </p:pic>
      <p:sp>
        <p:nvSpPr>
          <p:cNvPr id="8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9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0" y="2137680"/>
            <a:ext cx="12191760" cy="564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600" spc="-1" dirty="0">
                <a:solidFill>
                  <a:srgbClr val="000000"/>
                </a:solidFill>
                <a:latin typeface="Calibri"/>
              </a:rPr>
              <a:t>Digital twin of University </a:t>
            </a:r>
            <a:endParaRPr lang="en-US" sz="36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389160" y="4606920"/>
            <a:ext cx="3823560" cy="7372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1" strike="noStrike" spc="-1" dirty="0">
                <a:solidFill>
                  <a:srgbClr val="000000"/>
                </a:solidFill>
                <a:latin typeface="Times New Roman"/>
              </a:rPr>
              <a:t>SUBMITTED BY:-</a:t>
            </a:r>
            <a:endParaRPr lang="en-IN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400" b="1" spc="-1" dirty="0">
                <a:solidFill>
                  <a:srgbClr val="000000"/>
                </a:solidFill>
                <a:latin typeface="Times New Roman"/>
              </a:rPr>
              <a:t>Krrishika Taneja – 500120536- Full stack AI</a:t>
            </a:r>
            <a:br>
              <a:rPr lang="en-US" sz="1400" b="1" spc="-1" dirty="0">
                <a:solidFill>
                  <a:srgbClr val="000000"/>
                </a:solidFill>
                <a:latin typeface="Times New Roman"/>
              </a:rPr>
            </a:br>
            <a:r>
              <a:rPr lang="en-US" sz="1400" b="1" spc="-1" dirty="0">
                <a:solidFill>
                  <a:srgbClr val="000000"/>
                </a:solidFill>
                <a:latin typeface="Times New Roman"/>
              </a:rPr>
              <a:t>Devansh Grover – 500119879 – Full stack AI</a:t>
            </a:r>
            <a:endParaRPr lang="en-IN" sz="1400" b="0" strike="noStrike" spc="-1" dirty="0">
              <a:latin typeface="Arial"/>
            </a:endParaRPr>
          </a:p>
        </p:txBody>
      </p:sp>
      <p:sp>
        <p:nvSpPr>
          <p:cNvPr id="128" name="CustomShape 3"/>
          <p:cNvSpPr/>
          <p:nvPr/>
        </p:nvSpPr>
        <p:spPr>
          <a:xfrm>
            <a:off x="7816680" y="4899240"/>
            <a:ext cx="3832200" cy="7372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400" b="1" strike="noStrike" spc="-1" dirty="0">
                <a:solidFill>
                  <a:srgbClr val="000000"/>
                </a:solidFill>
                <a:latin typeface="Times New Roman"/>
              </a:rPr>
              <a:t>MENTORED BY:-</a:t>
            </a:r>
            <a:endParaRPr lang="en-IN" sz="14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en-US" sz="1400" b="1" spc="-1" dirty="0">
                <a:solidFill>
                  <a:srgbClr val="000000"/>
                </a:solidFill>
                <a:latin typeface="Times New Roman"/>
              </a:rPr>
              <a:t>Mr. </a:t>
            </a:r>
            <a:r>
              <a:rPr lang="en-US" sz="1400" b="1" spc="-1">
                <a:solidFill>
                  <a:srgbClr val="000000"/>
                </a:solidFill>
                <a:latin typeface="Times New Roman"/>
              </a:rPr>
              <a:t>Vishal Lohan</a:t>
            </a:r>
            <a:br>
              <a:rPr lang="en-US" sz="1400" b="1" spc="-1" dirty="0">
                <a:solidFill>
                  <a:srgbClr val="000000"/>
                </a:solidFill>
                <a:latin typeface="Times New Roman"/>
              </a:rPr>
            </a:br>
            <a:r>
              <a:rPr lang="en-US" sz="1400" b="1" spc="-1" dirty="0">
                <a:solidFill>
                  <a:srgbClr val="000000"/>
                </a:solidFill>
                <a:latin typeface="Times New Roman"/>
              </a:rPr>
              <a:t>Assistant professor </a:t>
            </a:r>
            <a:endParaRPr lang="en-IN" sz="1400" b="0" strike="noStrike" spc="-1" dirty="0">
              <a:latin typeface="Arial"/>
            </a:endParaRPr>
          </a:p>
        </p:txBody>
      </p:sp>
      <p:sp>
        <p:nvSpPr>
          <p:cNvPr id="129" name="Title 1"/>
          <p:cNvSpPr/>
          <p:nvPr/>
        </p:nvSpPr>
        <p:spPr>
          <a:xfrm>
            <a:off x="0" y="398880"/>
            <a:ext cx="12191760" cy="56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3500" lnSpcReduction="10000"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3600" spc="-1" dirty="0">
                <a:solidFill>
                  <a:srgbClr val="000000"/>
                </a:solidFill>
                <a:latin typeface="Calibri"/>
              </a:rPr>
              <a:t>Capstone </a:t>
            </a:r>
            <a:r>
              <a:rPr lang="en-GB" sz="3600" b="0" strike="noStrike" spc="-1" dirty="0">
                <a:solidFill>
                  <a:srgbClr val="000000"/>
                </a:solidFill>
                <a:latin typeface="Calibri"/>
              </a:rPr>
              <a:t>Project Synopsis Presentation</a:t>
            </a:r>
            <a:endParaRPr lang="en-IN" sz="3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Abstract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131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F3A268-09C7-640B-1AA2-4ADE5F8181E3}"/>
              </a:ext>
            </a:extLst>
          </p:cNvPr>
          <p:cNvSpPr txBox="1"/>
          <p:nvPr/>
        </p:nvSpPr>
        <p:spPr>
          <a:xfrm>
            <a:off x="670920" y="1077823"/>
            <a:ext cx="1086564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Universities are complex, resource-intensive ecosystems whose information systems run in silos and offer only static, historical dashboards.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This project builds a Digital Twin of a University: a continuously synchronized virtual replica of departments, buildings, classrooms, labs, libraries, hostels, courses, timetables, attendance and energy consumption.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On top of the virtual model it layers predictive analytics, anomaly detection, what-if simulation, resource optimization and a Generative AI assistant. </a:t>
            </a:r>
            <a:endParaRPr lang="en-IN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Administrators, faculty, students and facility managers get one role-based platform to monitor, predict, simulate and optimize campus operations instead of only observing them after the fact.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Introduction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133" name="TextShape 2"/>
          <p:cNvSpPr/>
          <p:nvPr/>
        </p:nvSpPr>
        <p:spPr>
          <a:xfrm>
            <a:off x="0" y="30792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9CDD03-9FD1-CC7B-F598-EF74B0D69F05}"/>
              </a:ext>
            </a:extLst>
          </p:cNvPr>
          <p:cNvSpPr txBox="1"/>
          <p:nvPr/>
        </p:nvSpPr>
        <p:spPr>
          <a:xfrm>
            <a:off x="686400" y="1413064"/>
            <a:ext cx="1164711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Problem: campus data lives in disconnected systems with no predictive, diagnostic or simulation capability.</a:t>
            </a:r>
          </a:p>
          <a:p>
            <a:pPr marL="0" marR="0" indent="0" algn="l"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Digital Twin paradigm (Grieves) is proven in manufacturing, smart cities and healthcare; smart-campus twins exist but lack prediction, simulation and optimization layers.</a:t>
            </a:r>
          </a:p>
          <a:p>
            <a:pPr marL="0" marR="0" indent="0" algn="l"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Proposed solution: a full-stack platform maintaining a live virtual model of the campus, enriched with AI/ML.</a:t>
            </a:r>
          </a:p>
          <a:p>
            <a:pPr marL="0" marR="0" indent="0" algn="l"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Target beneficiaries: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Administrators — anticipate shortages, test policies before enacting them, receive AI recommendations.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Faculty — classroom availability, timetable state, course and attendance analytics.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Students — predicted library/hostel occupancy, personal attendance and timetable.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Facility managers — energy monitoring, utilization and anomaly response.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Objectives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135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8D192-9A3E-7BBA-BE1B-C3DB9217504B}"/>
              </a:ext>
            </a:extLst>
          </p:cNvPr>
          <p:cNvSpPr txBox="1"/>
          <p:nvPr/>
        </p:nvSpPr>
        <p:spPr>
          <a:xfrm>
            <a:off x="1099457" y="1326600"/>
            <a:ext cx="1076597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Build a Digital Twin representation of core university entities with real-time, continuously synchronized state.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Ingest data from university databases/CSV exports and simulated real-time sensor streams (occupancy, energy, environment).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Provide predictive analytics for classroom demand, energy consumption, library/hostel occupancy and transport demand. • Detect anomalies in energy, occupancy and attendance patterns and alert facility managers.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Deliver a what-if simulation engine to evaluate </a:t>
            </a:r>
            <a:r>
              <a:rPr lang="en-IN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enrollment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growth, facility closure and schedule changes.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Recommend classroom, timetable and energy optimizations using constraint satisfaction, LP and genetic algorithms.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Offer a RAG-grounded Generative AI assistant for natural-language querying of the twin.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Ship an interactive role-based dashboard secured with authentication and RBAC.</a:t>
            </a:r>
            <a:endParaRPr lang="en-IN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Methodology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137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2AA96B-4EA4-E5E8-DA10-85E55AFAE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6" y="1006199"/>
            <a:ext cx="12104914" cy="48456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Tools and Technologies 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139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024EFF-7630-3F17-1857-C7C4427425E1}"/>
              </a:ext>
            </a:extLst>
          </p:cNvPr>
          <p:cNvSpPr txBox="1"/>
          <p:nvPr/>
        </p:nvSpPr>
        <p:spPr>
          <a:xfrm>
            <a:off x="2710543" y="1951672"/>
            <a:ext cx="240574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Frontend &amp; UI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Next.js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React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TypeScript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Tailwind CSS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CA6732-F988-F51F-BE61-53E0A7DA92A8}"/>
              </a:ext>
            </a:extLst>
          </p:cNvPr>
          <p:cNvSpPr txBox="1"/>
          <p:nvPr/>
        </p:nvSpPr>
        <p:spPr>
          <a:xfrm>
            <a:off x="8088086" y="1951672"/>
            <a:ext cx="18832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Backend &amp; Database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Python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dirty="0" err="1"/>
              <a:t>FastAPI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PostgreSQL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F6BA3E-2B78-87A5-3DB9-1103D7128086}"/>
              </a:ext>
            </a:extLst>
          </p:cNvPr>
          <p:cNvSpPr txBox="1"/>
          <p:nvPr/>
        </p:nvSpPr>
        <p:spPr>
          <a:xfrm>
            <a:off x="2710543" y="3997796"/>
            <a:ext cx="24057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AI/ML &amp; GenAI</a:t>
            </a:r>
          </a:p>
          <a:p>
            <a:pPr>
              <a:buNone/>
            </a:pPr>
            <a:r>
              <a:rPr lang="en-IN" dirty="0"/>
              <a:t>• Python</a:t>
            </a:r>
            <a:br>
              <a:rPr lang="en-IN" dirty="0"/>
            </a:br>
            <a:r>
              <a:rPr lang="en-IN" dirty="0"/>
              <a:t>• Random Forest</a:t>
            </a:r>
            <a:br>
              <a:rPr lang="en-IN" dirty="0"/>
            </a:br>
            <a:r>
              <a:rPr lang="en-IN" dirty="0"/>
              <a:t>• RAG</a:t>
            </a:r>
            <a:br>
              <a:rPr lang="en-IN" dirty="0"/>
            </a:br>
            <a:r>
              <a:rPr lang="en-IN" dirty="0"/>
              <a:t>• Local LLM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49A85C-2B5D-F47E-50B3-D94EB15C739F}"/>
              </a:ext>
            </a:extLst>
          </p:cNvPr>
          <p:cNvSpPr txBox="1"/>
          <p:nvPr/>
        </p:nvSpPr>
        <p:spPr>
          <a:xfrm>
            <a:off x="8088086" y="370599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Cloud &amp; Security</a:t>
            </a:r>
          </a:p>
          <a:p>
            <a:pPr>
              <a:buNone/>
            </a:pPr>
            <a:r>
              <a:rPr lang="en-IN" dirty="0"/>
              <a:t>• Docker</a:t>
            </a:r>
            <a:br>
              <a:rPr lang="en-IN" dirty="0"/>
            </a:br>
            <a:r>
              <a:rPr lang="en-IN" dirty="0"/>
              <a:t>• AWS S3</a:t>
            </a:r>
            <a:br>
              <a:rPr lang="en-IN" dirty="0"/>
            </a:br>
            <a:r>
              <a:rPr lang="en-IN" dirty="0"/>
              <a:t>• Redis </a:t>
            </a:r>
            <a:br>
              <a:rPr lang="en-IN" dirty="0"/>
            </a:br>
            <a:r>
              <a:rPr lang="en-IN" dirty="0"/>
              <a:t>• JWT</a:t>
            </a:r>
            <a:br>
              <a:rPr lang="en-IN" dirty="0"/>
            </a:br>
            <a:r>
              <a:rPr lang="en-IN" dirty="0"/>
              <a:t>• OAuth 2.0</a:t>
            </a:r>
            <a:br>
              <a:rPr lang="en-IN" dirty="0"/>
            </a:br>
            <a:r>
              <a:rPr lang="en-IN" dirty="0"/>
              <a:t>• RBAC</a:t>
            </a:r>
            <a:br>
              <a:rPr lang="en-IN" dirty="0"/>
            </a:br>
            <a:r>
              <a:rPr lang="en-IN" dirty="0"/>
              <a:t>• API Gateway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Screenshots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141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61FFAB-1CCE-923C-16FF-A1FB558FCC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26600"/>
            <a:ext cx="5687122" cy="5531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C1D0E0-CD09-33AF-FD68-F7B0FC8A42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82959" y="1483112"/>
            <a:ext cx="5687122" cy="53748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Pert Chart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143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C8A94C-D0B6-1D17-A08C-3A372BD00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735"/>
            <a:ext cx="12192001" cy="50204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References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145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FB096D-1FFD-E648-AE5F-D38FC9488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8618</TotalTime>
  <Words>481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PowerPoint Presentation</vt:lpstr>
      <vt:lpstr>Digital twin of University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Strengthen the embankments</dc:title>
  <dc:subject/>
  <dc:creator>Apple 2</dc:creator>
  <dc:description/>
  <cp:lastModifiedBy>krrishika taneja</cp:lastModifiedBy>
  <cp:revision>666</cp:revision>
  <cp:lastPrinted>2017-08-16T11:40:20Z</cp:lastPrinted>
  <dcterms:created xsi:type="dcterms:W3CDTF">2017-08-14T08:34:40Z</dcterms:created>
  <dcterms:modified xsi:type="dcterms:W3CDTF">2026-08-29T11:46:43Z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11</vt:i4>
  </property>
</Properties>
</file>